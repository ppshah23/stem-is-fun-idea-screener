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aSqn6bd8BdpgDCRE6H+5mEzHE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d732fe60_0_15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dad732fe60_0_15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ad732fe60_0_15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d732fe60_0_5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dad732fe60_0_5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ad732fe60_0_5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ad732fe60_0_8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dad732fe60_0_8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*Shows how the agents pass off end results to one another</a:t>
            </a:r>
            <a:endParaRPr/>
          </a:p>
        </p:txBody>
      </p:sp>
      <p:sp>
        <p:nvSpPr>
          <p:cNvPr id="229" name="Google Shape;229;g3dad732fe60_0_8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ad732fe60_0_20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dad732fe60_0_20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Chat → GITHUB → Codex → Skills → Resources/Filesystem</a:t>
            </a:r>
            <a:endParaRPr/>
          </a:p>
        </p:txBody>
      </p:sp>
      <p:sp>
        <p:nvSpPr>
          <p:cNvPr id="299" name="Google Shape;299;g3dad732fe60_0_20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ad732fe60_0_18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ad732fe60_0_1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dad732fe60_0_1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dad732fe60_0_1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ad732fe60_0_1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dad732fe60_0_1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dad732fe60_0_1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ad732fe60_0_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dad732fe60_0_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dad732fe60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ad732fe60_0_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dad732fe60_0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ad732fe60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dad732fe60_0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dad732fe60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ad732fe60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dad732fe60_0_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dad732fe60_0_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dad732fe60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ad732fe60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dad732fe60_0_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ad732fe60_0_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dad732fe60_0_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dad732fe60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ad732fe60_0_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dad732fe60_0_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ad732fe60_0_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dad732fe60_0_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dad732fe60_0_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dad732fe60_0_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dad732fe60_0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dad732fe60_0_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dad732fe60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ad732fe60_0_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dad732fe60_0_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dad732fe60_0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ad732fe60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b6d2550e3_13_0)">
  <p:cSld name="Generated (g3db6d2550e3_13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ad732fe60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dad732fe60_0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dad732fe60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-822960" y="-822960"/>
            <a:ext cx="3474720" cy="3474720"/>
          </a:xfrm>
          <a:prstGeom prst="ellipse">
            <a:avLst/>
          </a:prstGeom>
          <a:solidFill>
            <a:srgbClr val="00A896">
              <a:alpha val="16078"/>
            </a:srgbClr>
          </a:solidFill>
          <a:ln cap="flat" cmpd="sng" w="12700">
            <a:solidFill>
              <a:srgbClr val="00A896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6949440" y="2743200"/>
            <a:ext cx="3200400" cy="3200400"/>
          </a:xfrm>
          <a:prstGeom prst="ellipse">
            <a:avLst/>
          </a:prstGeom>
          <a:solidFill>
            <a:srgbClr val="F59E0B">
              <a:alpha val="14117"/>
            </a:srgbClr>
          </a:solidFill>
          <a:ln cap="flat" cmpd="sng" w="12700">
            <a:solidFill>
              <a:srgbClr val="F59E0B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7863840" y="-182880"/>
            <a:ext cx="1828800" cy="1828800"/>
          </a:xfrm>
          <a:prstGeom prst="ellipse">
            <a:avLst/>
          </a:prstGeom>
          <a:solidFill>
            <a:srgbClr val="E8604C">
              <a:alpha val="18039"/>
            </a:srgbClr>
          </a:solidFill>
          <a:ln cap="flat" cmpd="sng" w="12700">
            <a:solidFill>
              <a:srgbClr val="E8604C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3840480" y="4389120"/>
            <a:ext cx="1097280" cy="1097280"/>
          </a:xfrm>
          <a:prstGeom prst="ellipse">
            <a:avLst/>
          </a:prstGeom>
          <a:solidFill>
            <a:srgbClr val="7C3AED">
              <a:alpha val="16078"/>
            </a:srgbClr>
          </a:solidFill>
          <a:ln cap="flat" cmpd="sng" w="12700">
            <a:solidFill>
              <a:srgbClr val="7C3AED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457200" y="1554480"/>
            <a:ext cx="8046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Building Our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AI Command Center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502920" y="3840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Architectural Idea v1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502920" y="4480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ad732fe60_0_1573"/>
          <p:cNvSpPr/>
          <p:nvPr/>
        </p:nvSpPr>
        <p:spPr>
          <a:xfrm>
            <a:off x="457200" y="2857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Terminology</a:t>
            </a:r>
            <a:endParaRPr b="1" sz="3600">
              <a:solidFill>
                <a:srgbClr val="1C1C2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" name="Google Shape;74;g3dad732fe60_0_1573"/>
          <p:cNvSpPr txBox="1"/>
          <p:nvPr/>
        </p:nvSpPr>
        <p:spPr>
          <a:xfrm>
            <a:off x="457200" y="1031881"/>
            <a:ext cx="8229600" cy="388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Repository/Repo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External systems to store/version control skill and agent details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LLM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The AI brain (Claude, GPT-4)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Orchestrator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The traffic controller that routes request to the right agent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Workflows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Automated processes that tell the orchestrator how/when/why to call specific agents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Command List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Documents which skills an individual agent has access to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Agents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An automated access point that references an LLM to take actions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Personas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Details for the agent that elaborates on how they should act and focus their responses around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Skills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A pre-built capability assigned to an agent that can be called on demand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Rules</a:t>
            </a:r>
            <a:r>
              <a:rPr b="0" lang="en-US" sz="157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Instructions, templates, branding assets, etc that provides background the agent will reference to accomplish a skill</a:t>
            </a:r>
            <a:endParaRPr b="1" sz="157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365760" y="25722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26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What We're Building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3"/>
          <p:cNvGrpSpPr/>
          <p:nvPr/>
        </p:nvGrpSpPr>
        <p:grpSpPr>
          <a:xfrm>
            <a:off x="2190750" y="1425431"/>
            <a:ext cx="4762500" cy="2581350"/>
            <a:chOff x="2190750" y="1281113"/>
            <a:chExt cx="4762500" cy="2581350"/>
          </a:xfrm>
        </p:grpSpPr>
        <p:pic>
          <p:nvPicPr>
            <p:cNvPr id="82" name="Google Shape;8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76500" y="1281113"/>
              <a:ext cx="342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90750" y="2566988"/>
              <a:ext cx="6477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76500" y="3852863"/>
              <a:ext cx="342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24600" y="1281113"/>
              <a:ext cx="342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05550" y="2566988"/>
              <a:ext cx="6477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24600" y="3852863"/>
              <a:ext cx="342900" cy="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3"/>
          <p:cNvGrpSpPr/>
          <p:nvPr/>
        </p:nvGrpSpPr>
        <p:grpSpPr>
          <a:xfrm>
            <a:off x="2847975" y="1087293"/>
            <a:ext cx="3448200" cy="3257700"/>
            <a:chOff x="2847975" y="942975"/>
            <a:chExt cx="3448200" cy="3257700"/>
          </a:xfrm>
        </p:grpSpPr>
        <p:pic>
          <p:nvPicPr>
            <p:cNvPr id="89" name="Google Shape;89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47975" y="942975"/>
              <a:ext cx="34482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3"/>
            <p:cNvSpPr/>
            <p:nvPr/>
          </p:nvSpPr>
          <p:spPr>
            <a:xfrm>
              <a:off x="3048000" y="1143000"/>
              <a:ext cx="3048000" cy="2857500"/>
            </a:xfrm>
            <a:prstGeom prst="roundRect">
              <a:avLst>
                <a:gd fmla="val 5000" name="adj"/>
              </a:avLst>
            </a:prstGeom>
            <a:solidFill>
              <a:srgbClr val="00A896">
                <a:alpha val="10000"/>
              </a:srgbClr>
            </a:solidFill>
            <a:ln cap="flat" cmpd="sng" w="9525">
              <a:solidFill>
                <a:srgbClr val="00A8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 txBox="1"/>
            <p:nvPr/>
          </p:nvSpPr>
          <p:spPr>
            <a:xfrm>
              <a:off x="3048000" y="1238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6B5C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CORE ENGINE</a:t>
              </a:r>
              <a:endParaRPr b="1" sz="1400">
                <a:solidFill>
                  <a:srgbClr val="006B5C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92" name="Google Shape;92;p3"/>
          <p:cNvSpPr/>
          <p:nvPr/>
        </p:nvSpPr>
        <p:spPr>
          <a:xfrm>
            <a:off x="3238500" y="3430443"/>
            <a:ext cx="2667000" cy="428700"/>
          </a:xfrm>
          <a:prstGeom prst="rect">
            <a:avLst/>
          </a:prstGeom>
          <a:solidFill>
            <a:srgbClr val="99F6E4"/>
          </a:solidFill>
          <a:ln cap="flat" cmpd="sng" w="143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238500" y="3430443"/>
            <a:ext cx="2667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Inventory Database</a:t>
            </a:r>
            <a:endParaRPr b="1" sz="10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238500" y="2382693"/>
            <a:ext cx="2667000" cy="428700"/>
          </a:xfrm>
          <a:prstGeom prst="rect">
            <a:avLst/>
          </a:prstGeom>
          <a:solidFill>
            <a:srgbClr val="99F6E4"/>
          </a:solidFill>
          <a:ln cap="flat" cmpd="sng" w="143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238500" y="2382693"/>
            <a:ext cx="2667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Resources Library</a:t>
            </a:r>
            <a:endParaRPr b="1" sz="10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238500" y="2906568"/>
            <a:ext cx="2667000" cy="428700"/>
          </a:xfrm>
          <a:prstGeom prst="rect">
            <a:avLst/>
          </a:prstGeom>
          <a:solidFill>
            <a:srgbClr val="99F6E4"/>
          </a:solidFill>
          <a:ln cap="flat" cmpd="sng" w="143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238500" y="2906568"/>
            <a:ext cx="2667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Assets &amp; Filesystem</a:t>
            </a:r>
            <a:endParaRPr b="1" sz="10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238500" y="1858818"/>
            <a:ext cx="2667000" cy="428700"/>
          </a:xfrm>
          <a:prstGeom prst="rect">
            <a:avLst/>
          </a:prstGeom>
          <a:solidFill>
            <a:srgbClr val="99F6E4"/>
          </a:solidFill>
          <a:ln cap="flat" cmpd="sng" w="143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238500" y="1858818"/>
            <a:ext cx="2667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Curriculum Content</a:t>
            </a:r>
            <a:endParaRPr b="1" sz="10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71500" y="1192068"/>
            <a:ext cx="1905000" cy="476400"/>
          </a:xfrm>
          <a:prstGeom prst="rect">
            <a:avLst/>
          </a:prstGeom>
          <a:solidFill>
            <a:srgbClr val="FED7AA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71500" y="1192068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Teacher Pipeline</a:t>
            </a:r>
            <a:endParaRPr b="1" sz="10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667500" y="1192068"/>
            <a:ext cx="1905000" cy="476400"/>
          </a:xfrm>
          <a:prstGeom prst="rect">
            <a:avLst/>
          </a:prstGeom>
          <a:solidFill>
            <a:srgbClr val="FED7AA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667500" y="1192068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Teacher Portal</a:t>
            </a:r>
            <a:endParaRPr b="1" sz="10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85750" y="2477943"/>
            <a:ext cx="1905000" cy="476400"/>
          </a:xfrm>
          <a:prstGeom prst="rect">
            <a:avLst/>
          </a:prstGeom>
          <a:solidFill>
            <a:srgbClr val="FED7AA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285750" y="2477943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Website Bot</a:t>
            </a:r>
            <a:endParaRPr b="1" sz="10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953250" y="2477943"/>
            <a:ext cx="1905000" cy="476400"/>
          </a:xfrm>
          <a:prstGeom prst="rect">
            <a:avLst/>
          </a:prstGeom>
          <a:solidFill>
            <a:srgbClr val="FED7AA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953250" y="2477943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Opportunities</a:t>
            </a:r>
            <a:endParaRPr b="1" sz="10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71500" y="3763818"/>
            <a:ext cx="1905000" cy="476400"/>
          </a:xfrm>
          <a:prstGeom prst="rect">
            <a:avLst/>
          </a:prstGeom>
          <a:solidFill>
            <a:srgbClr val="FED7AA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571500" y="3763818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Admin Dashboard</a:t>
            </a:r>
            <a:endParaRPr b="1" sz="10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667500" y="3763818"/>
            <a:ext cx="1905000" cy="476400"/>
          </a:xfrm>
          <a:prstGeom prst="rect">
            <a:avLst/>
          </a:prstGeom>
          <a:solidFill>
            <a:srgbClr val="FED7AA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667500" y="3763818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Parent Connection</a:t>
            </a:r>
            <a:endParaRPr b="1" sz="10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65760" y="4572000"/>
            <a:ext cx="164700" cy="164700"/>
          </a:xfrm>
          <a:prstGeom prst="rect">
            <a:avLst/>
          </a:prstGeom>
          <a:solidFill>
            <a:srgbClr val="99F6E4"/>
          </a:solidFill>
          <a:ln cap="flat" cmpd="sng" w="143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66928" y="4552950"/>
            <a:ext cx="11430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Internal Core Elements</a:t>
            </a:r>
            <a:endParaRPr b="1" sz="850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65760" y="4810125"/>
            <a:ext cx="164700" cy="164700"/>
          </a:xfrm>
          <a:prstGeom prst="rect">
            <a:avLst/>
          </a:prstGeom>
          <a:solidFill>
            <a:srgbClr val="FED7AA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566928" y="4791075"/>
            <a:ext cx="11430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Future Strategic Access Points for Core Engine</a:t>
            </a:r>
            <a:endParaRPr b="1" sz="85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457175" y="30391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“Org Chart”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11488" y="109041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each department gets its own agents + skill 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20047" y="1456178"/>
            <a:ext cx="2651700" cy="5028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20047" y="145617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CURRICULUM ORC</a:t>
            </a: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47" y="2059682"/>
            <a:ext cx="2651700" cy="1060800"/>
          </a:xfrm>
          <a:prstGeom prst="rect">
            <a:avLst/>
          </a:prstGeom>
          <a:solidFill>
            <a:srgbClr val="99F6E4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20048" y="2059682"/>
            <a:ext cx="63900" cy="10608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57208" y="2105402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5C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Agent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02928" y="2315714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2928" y="2562602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02928" y="2809490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0047" y="3248402"/>
            <a:ext cx="2651700" cy="804600"/>
          </a:xfrm>
          <a:prstGeom prst="rect">
            <a:avLst/>
          </a:prstGeom>
          <a:solidFill>
            <a:srgbClr val="99F6E4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20048" y="3248402"/>
            <a:ext cx="63900" cy="804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57208" y="3294122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5C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Agent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2928" y="3504434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02928" y="3751322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246128" y="1456178"/>
            <a:ext cx="2651700" cy="502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3246128" y="145617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OPS ORCHESTRATOR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246128" y="2059682"/>
            <a:ext cx="2651700" cy="5487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3246128" y="2059682"/>
            <a:ext cx="63900" cy="5487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383288" y="2105402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C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Agent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429007" y="2315714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246128" y="2736338"/>
            <a:ext cx="2651700" cy="13167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3246128" y="2736338"/>
            <a:ext cx="63900" cy="13167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3383288" y="2782058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C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Agent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429007" y="2992370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429007" y="3239258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429007" y="3486146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429007" y="3733034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172208" y="1456178"/>
            <a:ext cx="2651700" cy="502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172208" y="145617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INVENTORY ORCHESTRATOR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172208" y="2059682"/>
            <a:ext cx="2651700" cy="8046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172208" y="2059682"/>
            <a:ext cx="63900" cy="80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309368" y="2105402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1CA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4B1CA0"/>
                </a:solidFill>
                <a:latin typeface="Trebuchet MS"/>
                <a:ea typeface="Trebuchet MS"/>
                <a:cs typeface="Trebuchet MS"/>
                <a:sym typeface="Trebuchet MS"/>
              </a:rPr>
              <a:t>Agent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355088" y="2315714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355088" y="2562602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172208" y="2992370"/>
            <a:ext cx="2651700" cy="8046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6172208" y="2992370"/>
            <a:ext cx="63900" cy="80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309368" y="3038090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1CA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4B1CA0"/>
                </a:solidFill>
                <a:latin typeface="Trebuchet MS"/>
                <a:ea typeface="Trebuchet MS"/>
                <a:cs typeface="Trebuchet MS"/>
                <a:sym typeface="Trebuchet MS"/>
              </a:rPr>
              <a:t>Agent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355088" y="3248402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355088" y="3495290"/>
            <a:ext cx="239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Skill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Skills are composable — the same skill can live in multiple agents across departments.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16A34A">
              <a:alpha val="10196"/>
            </a:srgbClr>
          </a:solidFill>
          <a:ln cap="flat" cmpd="sng" w="12700">
            <a:solidFill>
              <a:srgbClr val="16A34A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ad732fe60_0_593"/>
          <p:cNvSpPr/>
          <p:nvPr/>
        </p:nvSpPr>
        <p:spPr>
          <a:xfrm>
            <a:off x="457200" y="1371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“Org Chart”</a:t>
            </a:r>
            <a:endParaRPr b="1" sz="3400">
              <a:solidFill>
                <a:srgbClr val="1C1C2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9" name="Google Shape;169;g3dad732fe60_0_593"/>
          <p:cNvSpPr/>
          <p:nvPr/>
        </p:nvSpPr>
        <p:spPr>
          <a:xfrm>
            <a:off x="457200" y="65836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each department gets its own agents + skill 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ad732fe60_0_593"/>
          <p:cNvSpPr/>
          <p:nvPr/>
        </p:nvSpPr>
        <p:spPr>
          <a:xfrm>
            <a:off x="365760" y="1024128"/>
            <a:ext cx="2651700" cy="5028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ad732fe60_0_593"/>
          <p:cNvSpPr/>
          <p:nvPr/>
        </p:nvSpPr>
        <p:spPr>
          <a:xfrm>
            <a:off x="365760" y="102412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CURRICULUM ORC</a:t>
            </a: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ad732fe60_0_593"/>
          <p:cNvSpPr/>
          <p:nvPr/>
        </p:nvSpPr>
        <p:spPr>
          <a:xfrm>
            <a:off x="365760" y="1627632"/>
            <a:ext cx="2651700" cy="1060800"/>
          </a:xfrm>
          <a:prstGeom prst="rect">
            <a:avLst/>
          </a:prstGeom>
          <a:solidFill>
            <a:srgbClr val="99F6E4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ad732fe60_0_593"/>
          <p:cNvSpPr/>
          <p:nvPr/>
        </p:nvSpPr>
        <p:spPr>
          <a:xfrm>
            <a:off x="365760" y="1627632"/>
            <a:ext cx="63900" cy="10608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ad732fe60_0_593"/>
          <p:cNvSpPr/>
          <p:nvPr/>
        </p:nvSpPr>
        <p:spPr>
          <a:xfrm>
            <a:off x="365760" y="2816352"/>
            <a:ext cx="2651700" cy="804600"/>
          </a:xfrm>
          <a:prstGeom prst="rect">
            <a:avLst/>
          </a:prstGeom>
          <a:solidFill>
            <a:srgbClr val="99F6E4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ad732fe60_0_593"/>
          <p:cNvSpPr/>
          <p:nvPr/>
        </p:nvSpPr>
        <p:spPr>
          <a:xfrm>
            <a:off x="365760" y="2816352"/>
            <a:ext cx="63900" cy="804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ad732fe60_0_593"/>
          <p:cNvSpPr/>
          <p:nvPr/>
        </p:nvSpPr>
        <p:spPr>
          <a:xfrm>
            <a:off x="3291840" y="1024128"/>
            <a:ext cx="2651700" cy="502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ad732fe60_0_593"/>
          <p:cNvSpPr/>
          <p:nvPr/>
        </p:nvSpPr>
        <p:spPr>
          <a:xfrm>
            <a:off x="3291840" y="102412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OPS ORCHESTRATOR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ad732fe60_0_593"/>
          <p:cNvSpPr/>
          <p:nvPr/>
        </p:nvSpPr>
        <p:spPr>
          <a:xfrm>
            <a:off x="3291840" y="1627632"/>
            <a:ext cx="2651700" cy="5487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ad732fe60_0_593"/>
          <p:cNvSpPr/>
          <p:nvPr/>
        </p:nvSpPr>
        <p:spPr>
          <a:xfrm>
            <a:off x="3291840" y="1627632"/>
            <a:ext cx="63900" cy="5487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ad732fe60_0_593"/>
          <p:cNvSpPr/>
          <p:nvPr/>
        </p:nvSpPr>
        <p:spPr>
          <a:xfrm>
            <a:off x="3291840" y="2304288"/>
            <a:ext cx="2651700" cy="13167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ad732fe60_0_593"/>
          <p:cNvSpPr/>
          <p:nvPr/>
        </p:nvSpPr>
        <p:spPr>
          <a:xfrm>
            <a:off x="3291840" y="2304288"/>
            <a:ext cx="63900" cy="13167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ad732fe60_0_593"/>
          <p:cNvSpPr/>
          <p:nvPr/>
        </p:nvSpPr>
        <p:spPr>
          <a:xfrm>
            <a:off x="6217920" y="1024128"/>
            <a:ext cx="2651700" cy="502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ad732fe60_0_593"/>
          <p:cNvSpPr/>
          <p:nvPr/>
        </p:nvSpPr>
        <p:spPr>
          <a:xfrm>
            <a:off x="6217920" y="102412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INVENTORY ORCHESTRATOR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dad732fe60_0_593"/>
          <p:cNvSpPr/>
          <p:nvPr/>
        </p:nvSpPr>
        <p:spPr>
          <a:xfrm>
            <a:off x="6217920" y="1627632"/>
            <a:ext cx="2651700" cy="8046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ad732fe60_0_593"/>
          <p:cNvSpPr/>
          <p:nvPr/>
        </p:nvSpPr>
        <p:spPr>
          <a:xfrm>
            <a:off x="6217920" y="1627632"/>
            <a:ext cx="63900" cy="80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ad732fe60_0_593"/>
          <p:cNvSpPr/>
          <p:nvPr/>
        </p:nvSpPr>
        <p:spPr>
          <a:xfrm>
            <a:off x="6217920" y="2560320"/>
            <a:ext cx="2651700" cy="8046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ad732fe60_0_593"/>
          <p:cNvSpPr/>
          <p:nvPr/>
        </p:nvSpPr>
        <p:spPr>
          <a:xfrm>
            <a:off x="6217920" y="2560320"/>
            <a:ext cx="63900" cy="80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ad732fe60_0_593"/>
          <p:cNvSpPr/>
          <p:nvPr/>
        </p:nvSpPr>
        <p:spPr>
          <a:xfrm>
            <a:off x="457200" y="47731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Skills are composable — the same skill can live in multiple agents across departments.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ad732fe60_0_593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16A34A">
              <a:alpha val="10196"/>
            </a:srgbClr>
          </a:solidFill>
          <a:ln cap="flat" cmpd="sng" w="12700">
            <a:solidFill>
              <a:srgbClr val="16A34A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ad732fe60_0_593"/>
          <p:cNvSpPr/>
          <p:nvPr/>
        </p:nvSpPr>
        <p:spPr>
          <a:xfrm>
            <a:off x="502920" y="1673352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Course Designer</a:t>
            </a:r>
            <a:endParaRPr b="1" sz="11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g3dad732fe60_0_593"/>
          <p:cNvSpPr/>
          <p:nvPr/>
        </p:nvSpPr>
        <p:spPr>
          <a:xfrm>
            <a:off x="548640" y="188366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Create Course Outline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ad732fe60_0_593"/>
          <p:cNvSpPr/>
          <p:nvPr/>
        </p:nvSpPr>
        <p:spPr>
          <a:xfrm>
            <a:off x="548640" y="213055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Build Curriculum + Plan Components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dad732fe60_0_593"/>
          <p:cNvSpPr/>
          <p:nvPr/>
        </p:nvSpPr>
        <p:spPr>
          <a:xfrm>
            <a:off x="548640" y="237744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Map Course Standards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dad732fe60_0_593"/>
          <p:cNvSpPr/>
          <p:nvPr/>
        </p:nvSpPr>
        <p:spPr>
          <a:xfrm>
            <a:off x="502920" y="2862072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Workshop Assistant</a:t>
            </a:r>
            <a:endParaRPr b="1" sz="11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5" name="Google Shape;195;g3dad732fe60_0_593"/>
          <p:cNvSpPr/>
          <p:nvPr/>
        </p:nvSpPr>
        <p:spPr>
          <a:xfrm>
            <a:off x="548640" y="307238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Search Inventory System for Parts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ad732fe60_0_593"/>
          <p:cNvSpPr/>
          <p:nvPr/>
        </p:nvSpPr>
        <p:spPr>
          <a:xfrm>
            <a:off x="548640" y="331927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Build Workshop Materials/Worksheets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dad732fe60_0_593"/>
          <p:cNvSpPr/>
          <p:nvPr/>
        </p:nvSpPr>
        <p:spPr>
          <a:xfrm>
            <a:off x="3429000" y="1673352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Manager</a:t>
            </a:r>
            <a:endParaRPr b="1" sz="11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8" name="Google Shape;198;g3dad732fe60_0_593"/>
          <p:cNvSpPr/>
          <p:nvPr/>
        </p:nvSpPr>
        <p:spPr>
          <a:xfrm>
            <a:off x="3474720" y="188366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Sync Basecamp Calendar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ad732fe60_0_593"/>
          <p:cNvSpPr/>
          <p:nvPr/>
        </p:nvSpPr>
        <p:spPr>
          <a:xfrm>
            <a:off x="3429000" y="2350008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Comms Handler</a:t>
            </a:r>
            <a:endParaRPr b="1" sz="11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" name="Google Shape;200;g3dad732fe60_0_593"/>
          <p:cNvSpPr/>
          <p:nvPr/>
        </p:nvSpPr>
        <p:spPr>
          <a:xfrm>
            <a:off x="3474720" y="256032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Triage Slack Inbox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ad732fe60_0_593"/>
          <p:cNvSpPr/>
          <p:nvPr/>
        </p:nvSpPr>
        <p:spPr>
          <a:xfrm>
            <a:off x="3474720" y="2807208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Draft Email Replies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ad732fe60_0_593"/>
          <p:cNvSpPr/>
          <p:nvPr/>
        </p:nvSpPr>
        <p:spPr>
          <a:xfrm>
            <a:off x="3474720" y="3054096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Summarize Meetings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dad732fe60_0_593"/>
          <p:cNvSpPr/>
          <p:nvPr/>
        </p:nvSpPr>
        <p:spPr>
          <a:xfrm>
            <a:off x="3474720" y="330098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Generate Status Updates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dad732fe60_0_593"/>
          <p:cNvSpPr/>
          <p:nvPr/>
        </p:nvSpPr>
        <p:spPr>
          <a:xfrm>
            <a:off x="6355080" y="1673352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B1CA0"/>
                </a:solidFill>
                <a:latin typeface="Trebuchet MS"/>
                <a:ea typeface="Trebuchet MS"/>
                <a:cs typeface="Trebuchet MS"/>
                <a:sym typeface="Trebuchet MS"/>
              </a:rPr>
              <a:t>Inventory Scout</a:t>
            </a:r>
            <a:endParaRPr b="1" sz="1100">
              <a:solidFill>
                <a:srgbClr val="4B1CA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5" name="Google Shape;205;g3dad732fe60_0_593"/>
          <p:cNvSpPr/>
          <p:nvPr/>
        </p:nvSpPr>
        <p:spPr>
          <a:xfrm>
            <a:off x="6400800" y="188366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Query Stock Levels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ad732fe60_0_593"/>
          <p:cNvSpPr/>
          <p:nvPr/>
        </p:nvSpPr>
        <p:spPr>
          <a:xfrm>
            <a:off x="6400800" y="213055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Log New Assets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ad732fe60_0_593"/>
          <p:cNvSpPr/>
          <p:nvPr/>
        </p:nvSpPr>
        <p:spPr>
          <a:xfrm>
            <a:off x="6355080" y="2606040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B1CA0"/>
                </a:solidFill>
                <a:latin typeface="Trebuchet MS"/>
                <a:ea typeface="Trebuchet MS"/>
                <a:cs typeface="Trebuchet MS"/>
                <a:sym typeface="Trebuchet MS"/>
              </a:rPr>
              <a:t>Supply Auditor</a:t>
            </a:r>
            <a:endParaRPr b="1" sz="1100">
              <a:solidFill>
                <a:srgbClr val="4B1CA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8" name="Google Shape;208;g3dad732fe60_0_593"/>
          <p:cNvSpPr/>
          <p:nvPr/>
        </p:nvSpPr>
        <p:spPr>
          <a:xfrm>
            <a:off x="6400800" y="281635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Identify Low Stock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ad732fe60_0_593"/>
          <p:cNvSpPr/>
          <p:nvPr/>
        </p:nvSpPr>
        <p:spPr>
          <a:xfrm>
            <a:off x="6400800" y="306324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Validate Shipments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dad732fe60_0_593"/>
          <p:cNvSpPr/>
          <p:nvPr/>
        </p:nvSpPr>
        <p:spPr>
          <a:xfrm>
            <a:off x="365797" y="3758227"/>
            <a:ext cx="2651700" cy="804600"/>
          </a:xfrm>
          <a:prstGeom prst="rect">
            <a:avLst/>
          </a:prstGeom>
          <a:solidFill>
            <a:srgbClr val="99F6E4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ad732fe60_0_593"/>
          <p:cNvSpPr/>
          <p:nvPr/>
        </p:nvSpPr>
        <p:spPr>
          <a:xfrm>
            <a:off x="365797" y="3758227"/>
            <a:ext cx="63900" cy="804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ad732fe60_0_593"/>
          <p:cNvSpPr/>
          <p:nvPr/>
        </p:nvSpPr>
        <p:spPr>
          <a:xfrm>
            <a:off x="502958" y="3803947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Reviewer</a:t>
            </a:r>
            <a:endParaRPr b="1" sz="11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" name="Google Shape;213;g3dad732fe60_0_593"/>
          <p:cNvSpPr/>
          <p:nvPr/>
        </p:nvSpPr>
        <p:spPr>
          <a:xfrm>
            <a:off x="548678" y="4014259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Review Course Standards 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dad732fe60_0_593"/>
          <p:cNvSpPr/>
          <p:nvPr/>
        </p:nvSpPr>
        <p:spPr>
          <a:xfrm>
            <a:off x="548678" y="4261147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Review Curriculum Matches Values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ad732fe60_0_593"/>
          <p:cNvSpPr/>
          <p:nvPr/>
        </p:nvSpPr>
        <p:spPr>
          <a:xfrm>
            <a:off x="3291875" y="3749048"/>
            <a:ext cx="2651700" cy="10608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ad732fe60_0_593"/>
          <p:cNvSpPr/>
          <p:nvPr/>
        </p:nvSpPr>
        <p:spPr>
          <a:xfrm>
            <a:off x="3291875" y="3749048"/>
            <a:ext cx="63900" cy="1060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ad732fe60_0_593"/>
          <p:cNvSpPr/>
          <p:nvPr/>
        </p:nvSpPr>
        <p:spPr>
          <a:xfrm>
            <a:off x="3429025" y="3794758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Logistics</a:t>
            </a:r>
            <a:endParaRPr b="1" sz="11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" name="Google Shape;218;g3dad732fe60_0_593"/>
          <p:cNvSpPr/>
          <p:nvPr/>
        </p:nvSpPr>
        <p:spPr>
          <a:xfrm>
            <a:off x="3474745" y="400507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Verify Student Enrollment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ad732fe60_0_593"/>
          <p:cNvSpPr/>
          <p:nvPr/>
        </p:nvSpPr>
        <p:spPr>
          <a:xfrm>
            <a:off x="3474745" y="4251958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Material Ordering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ad732fe60_0_593"/>
          <p:cNvSpPr/>
          <p:nvPr/>
        </p:nvSpPr>
        <p:spPr>
          <a:xfrm>
            <a:off x="3474745" y="4498846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Prep Plan for Class Material Requirements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ad732fe60_0_593"/>
          <p:cNvSpPr/>
          <p:nvPr/>
        </p:nvSpPr>
        <p:spPr>
          <a:xfrm>
            <a:off x="6217920" y="3493020"/>
            <a:ext cx="2651700" cy="8046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ad732fe60_0_593"/>
          <p:cNvSpPr/>
          <p:nvPr/>
        </p:nvSpPr>
        <p:spPr>
          <a:xfrm>
            <a:off x="6217920" y="3493020"/>
            <a:ext cx="63900" cy="80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ad732fe60_0_593"/>
          <p:cNvSpPr/>
          <p:nvPr/>
        </p:nvSpPr>
        <p:spPr>
          <a:xfrm>
            <a:off x="6355080" y="3538740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B1CA0"/>
                </a:solidFill>
                <a:latin typeface="Trebuchet MS"/>
                <a:ea typeface="Trebuchet MS"/>
                <a:cs typeface="Trebuchet MS"/>
                <a:sym typeface="Trebuchet MS"/>
              </a:rPr>
              <a:t>Curriculum Inventory Auditor</a:t>
            </a:r>
            <a:endParaRPr b="1" sz="1100">
              <a:solidFill>
                <a:srgbClr val="4B1CA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g3dad732fe60_0_593"/>
          <p:cNvSpPr/>
          <p:nvPr/>
        </p:nvSpPr>
        <p:spPr>
          <a:xfrm>
            <a:off x="6400800" y="374905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Review Curriculum Plan &amp; Recommend Materials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dad732fe60_0_593"/>
          <p:cNvSpPr/>
          <p:nvPr/>
        </p:nvSpPr>
        <p:spPr>
          <a:xfrm>
            <a:off x="6400800" y="399594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Request Ordering for Courses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ad732fe60_0_864"/>
          <p:cNvSpPr/>
          <p:nvPr/>
        </p:nvSpPr>
        <p:spPr>
          <a:xfrm>
            <a:off x="457200" y="1371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“Org Chart”</a:t>
            </a:r>
            <a:endParaRPr b="1" sz="3400">
              <a:solidFill>
                <a:srgbClr val="1C1C2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2" name="Google Shape;232;g3dad732fe60_0_864"/>
          <p:cNvSpPr/>
          <p:nvPr/>
        </p:nvSpPr>
        <p:spPr>
          <a:xfrm>
            <a:off x="457200" y="65836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each department gets its own agents + skill 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dad732fe60_0_864"/>
          <p:cNvSpPr/>
          <p:nvPr/>
        </p:nvSpPr>
        <p:spPr>
          <a:xfrm>
            <a:off x="365760" y="1024128"/>
            <a:ext cx="2651700" cy="5028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ad732fe60_0_864"/>
          <p:cNvSpPr/>
          <p:nvPr/>
        </p:nvSpPr>
        <p:spPr>
          <a:xfrm>
            <a:off x="365760" y="102412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CURRICULUM ORC</a:t>
            </a:r>
            <a:r>
              <a:rPr b="1" lang="en-US" sz="1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ad732fe60_0_864"/>
          <p:cNvSpPr/>
          <p:nvPr/>
        </p:nvSpPr>
        <p:spPr>
          <a:xfrm>
            <a:off x="365760" y="1627632"/>
            <a:ext cx="2651700" cy="1060800"/>
          </a:xfrm>
          <a:prstGeom prst="rect">
            <a:avLst/>
          </a:prstGeom>
          <a:solidFill>
            <a:srgbClr val="99F6E4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ad732fe60_0_864"/>
          <p:cNvSpPr/>
          <p:nvPr/>
        </p:nvSpPr>
        <p:spPr>
          <a:xfrm>
            <a:off x="365760" y="1627632"/>
            <a:ext cx="63900" cy="10608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ad732fe60_0_864"/>
          <p:cNvSpPr/>
          <p:nvPr/>
        </p:nvSpPr>
        <p:spPr>
          <a:xfrm>
            <a:off x="365760" y="2816352"/>
            <a:ext cx="2651700" cy="804600"/>
          </a:xfrm>
          <a:prstGeom prst="rect">
            <a:avLst/>
          </a:prstGeom>
          <a:solidFill>
            <a:srgbClr val="99F6E4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ad732fe60_0_864"/>
          <p:cNvSpPr/>
          <p:nvPr/>
        </p:nvSpPr>
        <p:spPr>
          <a:xfrm>
            <a:off x="365760" y="2816352"/>
            <a:ext cx="63900" cy="804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ad732fe60_0_864"/>
          <p:cNvSpPr/>
          <p:nvPr/>
        </p:nvSpPr>
        <p:spPr>
          <a:xfrm>
            <a:off x="3291840" y="1024128"/>
            <a:ext cx="2651700" cy="502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dad732fe60_0_864"/>
          <p:cNvSpPr/>
          <p:nvPr/>
        </p:nvSpPr>
        <p:spPr>
          <a:xfrm>
            <a:off x="3291840" y="102412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OPS ORCHESTRATOR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dad732fe60_0_864"/>
          <p:cNvSpPr/>
          <p:nvPr/>
        </p:nvSpPr>
        <p:spPr>
          <a:xfrm>
            <a:off x="3291840" y="1627632"/>
            <a:ext cx="2651700" cy="5487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dad732fe60_0_864"/>
          <p:cNvSpPr/>
          <p:nvPr/>
        </p:nvSpPr>
        <p:spPr>
          <a:xfrm>
            <a:off x="3291840" y="1627632"/>
            <a:ext cx="63900" cy="5487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ad732fe60_0_864"/>
          <p:cNvSpPr/>
          <p:nvPr/>
        </p:nvSpPr>
        <p:spPr>
          <a:xfrm>
            <a:off x="3291840" y="2304288"/>
            <a:ext cx="2651700" cy="13167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ad732fe60_0_864"/>
          <p:cNvSpPr/>
          <p:nvPr/>
        </p:nvSpPr>
        <p:spPr>
          <a:xfrm>
            <a:off x="3291840" y="2304288"/>
            <a:ext cx="63900" cy="13167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ad732fe60_0_864"/>
          <p:cNvSpPr/>
          <p:nvPr/>
        </p:nvSpPr>
        <p:spPr>
          <a:xfrm>
            <a:off x="6217920" y="1024128"/>
            <a:ext cx="2651700" cy="502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dad732fe60_0_864"/>
          <p:cNvSpPr/>
          <p:nvPr/>
        </p:nvSpPr>
        <p:spPr>
          <a:xfrm>
            <a:off x="6217920" y="1024128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INVENTORY ORCHESTRATOR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dad732fe60_0_864"/>
          <p:cNvSpPr/>
          <p:nvPr/>
        </p:nvSpPr>
        <p:spPr>
          <a:xfrm>
            <a:off x="6217920" y="1627632"/>
            <a:ext cx="2651700" cy="8046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ad732fe60_0_864"/>
          <p:cNvSpPr/>
          <p:nvPr/>
        </p:nvSpPr>
        <p:spPr>
          <a:xfrm>
            <a:off x="6217920" y="1627632"/>
            <a:ext cx="63900" cy="80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ad732fe60_0_864"/>
          <p:cNvSpPr/>
          <p:nvPr/>
        </p:nvSpPr>
        <p:spPr>
          <a:xfrm>
            <a:off x="6217920" y="2560320"/>
            <a:ext cx="2651700" cy="8046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ad732fe60_0_864"/>
          <p:cNvSpPr/>
          <p:nvPr/>
        </p:nvSpPr>
        <p:spPr>
          <a:xfrm>
            <a:off x="6217920" y="2560320"/>
            <a:ext cx="63900" cy="80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ad732fe60_0_864"/>
          <p:cNvSpPr/>
          <p:nvPr/>
        </p:nvSpPr>
        <p:spPr>
          <a:xfrm>
            <a:off x="457200" y="47731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Skills are composable — the same skill can live in multiple agents across departments.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dad732fe60_0_864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16A34A">
              <a:alpha val="10200"/>
            </a:srgbClr>
          </a:solidFill>
          <a:ln cap="flat" cmpd="sng" w="12700">
            <a:solidFill>
              <a:srgbClr val="16A34A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ad732fe60_0_864"/>
          <p:cNvSpPr/>
          <p:nvPr/>
        </p:nvSpPr>
        <p:spPr>
          <a:xfrm>
            <a:off x="502920" y="1673352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Course Designer</a:t>
            </a:r>
            <a:endParaRPr b="1" sz="11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4" name="Google Shape;254;g3dad732fe60_0_864"/>
          <p:cNvSpPr/>
          <p:nvPr/>
        </p:nvSpPr>
        <p:spPr>
          <a:xfrm>
            <a:off x="548640" y="188366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Create Course Outline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ad732fe60_0_864"/>
          <p:cNvSpPr/>
          <p:nvPr/>
        </p:nvSpPr>
        <p:spPr>
          <a:xfrm>
            <a:off x="548640" y="213055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Build Curriculum + Plan Components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ad732fe60_0_864"/>
          <p:cNvSpPr/>
          <p:nvPr/>
        </p:nvSpPr>
        <p:spPr>
          <a:xfrm>
            <a:off x="548640" y="237744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Map Course Standards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ad732fe60_0_864"/>
          <p:cNvSpPr/>
          <p:nvPr/>
        </p:nvSpPr>
        <p:spPr>
          <a:xfrm>
            <a:off x="502920" y="2862072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Workshop Assistant</a:t>
            </a:r>
            <a:endParaRPr b="1" sz="11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8" name="Google Shape;258;g3dad732fe60_0_864"/>
          <p:cNvSpPr/>
          <p:nvPr/>
        </p:nvSpPr>
        <p:spPr>
          <a:xfrm>
            <a:off x="548640" y="307238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Search Inventory System for Parts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dad732fe60_0_864"/>
          <p:cNvSpPr/>
          <p:nvPr/>
        </p:nvSpPr>
        <p:spPr>
          <a:xfrm>
            <a:off x="548640" y="331927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Build Workshop Materials/Worksheets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dad732fe60_0_864"/>
          <p:cNvSpPr/>
          <p:nvPr/>
        </p:nvSpPr>
        <p:spPr>
          <a:xfrm>
            <a:off x="3429000" y="1673352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Manager</a:t>
            </a:r>
            <a:endParaRPr b="1" sz="11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1" name="Google Shape;261;g3dad732fe60_0_864"/>
          <p:cNvSpPr/>
          <p:nvPr/>
        </p:nvSpPr>
        <p:spPr>
          <a:xfrm>
            <a:off x="3474720" y="188366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Sync Basecamp Calendar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dad732fe60_0_864"/>
          <p:cNvSpPr/>
          <p:nvPr/>
        </p:nvSpPr>
        <p:spPr>
          <a:xfrm>
            <a:off x="3429000" y="2350008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Comms Handler</a:t>
            </a:r>
            <a:endParaRPr b="1" sz="11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3" name="Google Shape;263;g3dad732fe60_0_864"/>
          <p:cNvSpPr/>
          <p:nvPr/>
        </p:nvSpPr>
        <p:spPr>
          <a:xfrm>
            <a:off x="3474720" y="256032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Triage Slack Inbox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dad732fe60_0_864"/>
          <p:cNvSpPr/>
          <p:nvPr/>
        </p:nvSpPr>
        <p:spPr>
          <a:xfrm>
            <a:off x="3474720" y="2807208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Draft Email Replies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dad732fe60_0_864"/>
          <p:cNvSpPr/>
          <p:nvPr/>
        </p:nvSpPr>
        <p:spPr>
          <a:xfrm>
            <a:off x="3474720" y="3054096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Summarize Meetings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dad732fe60_0_864"/>
          <p:cNvSpPr/>
          <p:nvPr/>
        </p:nvSpPr>
        <p:spPr>
          <a:xfrm>
            <a:off x="3474720" y="330098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Generate Status Updates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dad732fe60_0_864"/>
          <p:cNvSpPr/>
          <p:nvPr/>
        </p:nvSpPr>
        <p:spPr>
          <a:xfrm>
            <a:off x="6355080" y="1673352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B1CA0"/>
                </a:solidFill>
                <a:latin typeface="Trebuchet MS"/>
                <a:ea typeface="Trebuchet MS"/>
                <a:cs typeface="Trebuchet MS"/>
                <a:sym typeface="Trebuchet MS"/>
              </a:rPr>
              <a:t>Inventory Scout</a:t>
            </a:r>
            <a:endParaRPr b="1" sz="1100">
              <a:solidFill>
                <a:srgbClr val="4B1CA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Google Shape;268;g3dad732fe60_0_864"/>
          <p:cNvSpPr/>
          <p:nvPr/>
        </p:nvSpPr>
        <p:spPr>
          <a:xfrm>
            <a:off x="6400800" y="1883664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Query Stock Levels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dad732fe60_0_864"/>
          <p:cNvSpPr/>
          <p:nvPr/>
        </p:nvSpPr>
        <p:spPr>
          <a:xfrm>
            <a:off x="6400800" y="213055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Log New Assets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dad732fe60_0_864"/>
          <p:cNvSpPr/>
          <p:nvPr/>
        </p:nvSpPr>
        <p:spPr>
          <a:xfrm>
            <a:off x="6355080" y="2606040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B1CA0"/>
                </a:solidFill>
                <a:latin typeface="Trebuchet MS"/>
                <a:ea typeface="Trebuchet MS"/>
                <a:cs typeface="Trebuchet MS"/>
                <a:sym typeface="Trebuchet MS"/>
              </a:rPr>
              <a:t>Supply Auditor</a:t>
            </a:r>
            <a:endParaRPr b="1" sz="1100">
              <a:solidFill>
                <a:srgbClr val="4B1CA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1" name="Google Shape;271;g3dad732fe60_0_864"/>
          <p:cNvSpPr/>
          <p:nvPr/>
        </p:nvSpPr>
        <p:spPr>
          <a:xfrm>
            <a:off x="6400800" y="281635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Identify Low Stock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dad732fe60_0_864"/>
          <p:cNvSpPr/>
          <p:nvPr/>
        </p:nvSpPr>
        <p:spPr>
          <a:xfrm>
            <a:off x="6400800" y="306324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Validate Shipments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dad732fe60_0_864"/>
          <p:cNvSpPr/>
          <p:nvPr/>
        </p:nvSpPr>
        <p:spPr>
          <a:xfrm>
            <a:off x="365797" y="3758227"/>
            <a:ext cx="2651700" cy="804600"/>
          </a:xfrm>
          <a:prstGeom prst="rect">
            <a:avLst/>
          </a:prstGeom>
          <a:solidFill>
            <a:srgbClr val="99F6E4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dad732fe60_0_864"/>
          <p:cNvSpPr/>
          <p:nvPr/>
        </p:nvSpPr>
        <p:spPr>
          <a:xfrm>
            <a:off x="365797" y="3758227"/>
            <a:ext cx="63900" cy="804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ad732fe60_0_864"/>
          <p:cNvSpPr/>
          <p:nvPr/>
        </p:nvSpPr>
        <p:spPr>
          <a:xfrm>
            <a:off x="502958" y="3803947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6B5C"/>
                </a:solidFill>
                <a:latin typeface="Trebuchet MS"/>
                <a:ea typeface="Trebuchet MS"/>
                <a:cs typeface="Trebuchet MS"/>
                <a:sym typeface="Trebuchet MS"/>
              </a:rPr>
              <a:t>Reviewer</a:t>
            </a:r>
            <a:endParaRPr b="1" sz="1100">
              <a:solidFill>
                <a:srgbClr val="006B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6" name="Google Shape;276;g3dad732fe60_0_864"/>
          <p:cNvSpPr/>
          <p:nvPr/>
        </p:nvSpPr>
        <p:spPr>
          <a:xfrm>
            <a:off x="548678" y="4014259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Review Course Standards 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dad732fe60_0_864"/>
          <p:cNvSpPr/>
          <p:nvPr/>
        </p:nvSpPr>
        <p:spPr>
          <a:xfrm>
            <a:off x="548678" y="4261147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Review Curriculum Matches Values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dad732fe60_0_864"/>
          <p:cNvSpPr/>
          <p:nvPr/>
        </p:nvSpPr>
        <p:spPr>
          <a:xfrm>
            <a:off x="3291875" y="3749048"/>
            <a:ext cx="2651700" cy="10608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dad732fe60_0_864"/>
          <p:cNvSpPr/>
          <p:nvPr/>
        </p:nvSpPr>
        <p:spPr>
          <a:xfrm>
            <a:off x="3291875" y="3749048"/>
            <a:ext cx="63900" cy="1060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dad732fe60_0_864"/>
          <p:cNvSpPr/>
          <p:nvPr/>
        </p:nvSpPr>
        <p:spPr>
          <a:xfrm>
            <a:off x="3429025" y="3794758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A3C00"/>
                </a:solidFill>
                <a:latin typeface="Trebuchet MS"/>
                <a:ea typeface="Trebuchet MS"/>
                <a:cs typeface="Trebuchet MS"/>
                <a:sym typeface="Trebuchet MS"/>
              </a:rPr>
              <a:t>Logistics</a:t>
            </a:r>
            <a:endParaRPr b="1" sz="1100">
              <a:solidFill>
                <a:srgbClr val="7A3C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1" name="Google Shape;281;g3dad732fe60_0_864"/>
          <p:cNvSpPr/>
          <p:nvPr/>
        </p:nvSpPr>
        <p:spPr>
          <a:xfrm>
            <a:off x="3474745" y="400507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Verify Student Enrollment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dad732fe60_0_864"/>
          <p:cNvSpPr/>
          <p:nvPr/>
        </p:nvSpPr>
        <p:spPr>
          <a:xfrm>
            <a:off x="3474745" y="4251958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Material Ordering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dad732fe60_0_864"/>
          <p:cNvSpPr/>
          <p:nvPr/>
        </p:nvSpPr>
        <p:spPr>
          <a:xfrm>
            <a:off x="3474745" y="4498846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Prep Plan for Class Material Requirements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dad732fe60_0_864"/>
          <p:cNvSpPr/>
          <p:nvPr/>
        </p:nvSpPr>
        <p:spPr>
          <a:xfrm>
            <a:off x="6217920" y="3493020"/>
            <a:ext cx="2651700" cy="8046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ad732fe60_0_864"/>
          <p:cNvSpPr/>
          <p:nvPr/>
        </p:nvSpPr>
        <p:spPr>
          <a:xfrm>
            <a:off x="6217920" y="3493020"/>
            <a:ext cx="63900" cy="804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dad732fe60_0_864"/>
          <p:cNvSpPr/>
          <p:nvPr/>
        </p:nvSpPr>
        <p:spPr>
          <a:xfrm>
            <a:off x="6355080" y="3538740"/>
            <a:ext cx="2469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B1CA0"/>
                </a:solidFill>
                <a:latin typeface="Trebuchet MS"/>
                <a:ea typeface="Trebuchet MS"/>
                <a:cs typeface="Trebuchet MS"/>
                <a:sym typeface="Trebuchet MS"/>
              </a:rPr>
              <a:t>Curriculum Inventory Auditor</a:t>
            </a:r>
            <a:endParaRPr b="1" sz="1100">
              <a:solidFill>
                <a:srgbClr val="4B1CA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7" name="Google Shape;287;g3dad732fe60_0_864"/>
          <p:cNvSpPr/>
          <p:nvPr/>
        </p:nvSpPr>
        <p:spPr>
          <a:xfrm>
            <a:off x="6400800" y="3749052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Review Curriculum Plan &amp; Recommend Materials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ad732fe60_0_864"/>
          <p:cNvSpPr/>
          <p:nvPr/>
        </p:nvSpPr>
        <p:spPr>
          <a:xfrm>
            <a:off x="6400800" y="3995940"/>
            <a:ext cx="239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→ Request Ordering for Courses</a:t>
            </a:r>
            <a:endParaRPr sz="1000">
              <a:solidFill>
                <a:srgbClr val="1C1C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dad732fe60_0_864"/>
          <p:cNvSpPr/>
          <p:nvPr/>
        </p:nvSpPr>
        <p:spPr>
          <a:xfrm>
            <a:off x="591200" y="2102075"/>
            <a:ext cx="2069100" cy="27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dad732fe60_0_864"/>
          <p:cNvSpPr/>
          <p:nvPr/>
        </p:nvSpPr>
        <p:spPr>
          <a:xfrm>
            <a:off x="3546650" y="4243890"/>
            <a:ext cx="1088700" cy="27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dad732fe60_0_864"/>
          <p:cNvSpPr/>
          <p:nvPr/>
        </p:nvSpPr>
        <p:spPr>
          <a:xfrm>
            <a:off x="6309550" y="3679194"/>
            <a:ext cx="2469000" cy="34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dad732fe60_0_864"/>
          <p:cNvSpPr/>
          <p:nvPr/>
        </p:nvSpPr>
        <p:spPr>
          <a:xfrm>
            <a:off x="6364200" y="4059540"/>
            <a:ext cx="2469000" cy="173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dad732fe60_0_864"/>
          <p:cNvSpPr/>
          <p:nvPr/>
        </p:nvSpPr>
        <p:spPr>
          <a:xfrm rot="5400000">
            <a:off x="4161500" y="732650"/>
            <a:ext cx="1319700" cy="4153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dad732fe60_0_864"/>
          <p:cNvSpPr/>
          <p:nvPr/>
        </p:nvSpPr>
        <p:spPr>
          <a:xfrm rot="5400000">
            <a:off x="8608855" y="3748681"/>
            <a:ext cx="608100" cy="5388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dad732fe60_0_864"/>
          <p:cNvSpPr/>
          <p:nvPr/>
        </p:nvSpPr>
        <p:spPr>
          <a:xfrm rot="10800000">
            <a:off x="4690400" y="4242825"/>
            <a:ext cx="2063700" cy="346500"/>
          </a:xfrm>
          <a:prstGeom prst="bentArrow">
            <a:avLst>
              <a:gd fmla="val 25000" name="adj1"/>
              <a:gd fmla="val 25072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ad732fe60_0_2012"/>
          <p:cNvSpPr/>
          <p:nvPr/>
        </p:nvSpPr>
        <p:spPr>
          <a:xfrm>
            <a:off x="457200" y="2476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Layers to the Architecture</a:t>
            </a:r>
            <a:endParaRPr b="0" sz="3400">
              <a:solidFill>
                <a:srgbClr val="1C1C2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2" name="Google Shape;302;g3dad732fe60_0_2012"/>
          <p:cNvSpPr/>
          <p:nvPr/>
        </p:nvSpPr>
        <p:spPr>
          <a:xfrm>
            <a:off x="457200" y="819150"/>
            <a:ext cx="64008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building from infrastructure up to the interface</a:t>
            </a:r>
            <a:endParaRPr b="0" i="1" sz="1300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g3dad732fe60_0_2012"/>
          <p:cNvGrpSpPr/>
          <p:nvPr/>
        </p:nvGrpSpPr>
        <p:grpSpPr>
          <a:xfrm>
            <a:off x="1238250" y="1333500"/>
            <a:ext cx="6667500" cy="619200"/>
            <a:chOff x="1238250" y="1333500"/>
            <a:chExt cx="6667500" cy="619200"/>
          </a:xfrm>
        </p:grpSpPr>
        <p:sp>
          <p:nvSpPr>
            <p:cNvPr id="304" name="Google Shape;304;g3dad732fe60_0_2012"/>
            <p:cNvSpPr/>
            <p:nvPr/>
          </p:nvSpPr>
          <p:spPr>
            <a:xfrm>
              <a:off x="1238250" y="1333500"/>
              <a:ext cx="6667500" cy="619200"/>
            </a:xfrm>
            <a:prstGeom prst="roundRect">
              <a:avLst>
                <a:gd fmla="val 9230" name="adj"/>
              </a:avLst>
            </a:prstGeom>
            <a:solidFill>
              <a:srgbClr val="FBCFE8"/>
            </a:solidFill>
            <a:ln cap="flat" cmpd="sng" w="19050">
              <a:solidFill>
                <a:srgbClr val="E860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g3dad732fe60_0_2012"/>
            <p:cNvSpPr txBox="1"/>
            <p:nvPr/>
          </p:nvSpPr>
          <p:spPr>
            <a:xfrm>
              <a:off x="1238250" y="1333500"/>
              <a:ext cx="6667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Communication Handling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Discord, Slack, Google Chat</a:t>
              </a:r>
              <a:endParaRPr b="0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g3dad732fe60_0_2012"/>
          <p:cNvGrpSpPr/>
          <p:nvPr/>
        </p:nvGrpSpPr>
        <p:grpSpPr>
          <a:xfrm>
            <a:off x="1238250" y="2047875"/>
            <a:ext cx="6667500" cy="619200"/>
            <a:chOff x="1238250" y="2047875"/>
            <a:chExt cx="6667500" cy="619200"/>
          </a:xfrm>
        </p:grpSpPr>
        <p:sp>
          <p:nvSpPr>
            <p:cNvPr id="307" name="Google Shape;307;g3dad732fe60_0_2012"/>
            <p:cNvSpPr/>
            <p:nvPr/>
          </p:nvSpPr>
          <p:spPr>
            <a:xfrm>
              <a:off x="1238250" y="2047875"/>
              <a:ext cx="6667500" cy="619200"/>
            </a:xfrm>
            <a:prstGeom prst="roundRect">
              <a:avLst>
                <a:gd fmla="val 9230" name="adj"/>
              </a:avLst>
            </a:prstGeom>
            <a:solidFill>
              <a:srgbClr val="99F6E4"/>
            </a:solidFill>
            <a:ln cap="flat" cmpd="sng" w="19050">
              <a:solidFill>
                <a:srgbClr val="00A8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g3dad732fe60_0_2012"/>
            <p:cNvSpPr txBox="1"/>
            <p:nvPr/>
          </p:nvSpPr>
          <p:spPr>
            <a:xfrm>
              <a:off x="1238250" y="2047875"/>
              <a:ext cx="6667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Orchestrator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44444"/>
                  </a:solidFill>
                </a:rPr>
                <a:t>Github Webhooks</a:t>
              </a:r>
              <a:endParaRPr b="0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g3dad732fe60_0_2012"/>
          <p:cNvGrpSpPr/>
          <p:nvPr/>
        </p:nvGrpSpPr>
        <p:grpSpPr>
          <a:xfrm>
            <a:off x="1238250" y="2762250"/>
            <a:ext cx="6667500" cy="619200"/>
            <a:chOff x="1238250" y="2762250"/>
            <a:chExt cx="6667500" cy="619200"/>
          </a:xfrm>
        </p:grpSpPr>
        <p:sp>
          <p:nvSpPr>
            <p:cNvPr id="310" name="Google Shape;310;g3dad732fe60_0_2012"/>
            <p:cNvSpPr/>
            <p:nvPr/>
          </p:nvSpPr>
          <p:spPr>
            <a:xfrm>
              <a:off x="1238250" y="2762250"/>
              <a:ext cx="6667500" cy="619200"/>
            </a:xfrm>
            <a:prstGeom prst="roundRect">
              <a:avLst>
                <a:gd fmla="val 9230" name="adj"/>
              </a:avLst>
            </a:prstGeom>
            <a:solidFill>
              <a:srgbClr val="BBF7D0"/>
            </a:solidFill>
            <a:ln cap="flat" cmpd="sng" w="1905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g3dad732fe60_0_2012"/>
            <p:cNvSpPr txBox="1"/>
            <p:nvPr/>
          </p:nvSpPr>
          <p:spPr>
            <a:xfrm>
              <a:off x="1238250" y="2762250"/>
              <a:ext cx="6667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Smart Layer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Codex (AI Core), ChatGPT, Claude, Gemini</a:t>
              </a:r>
              <a:endParaRPr b="0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g3dad732fe60_0_2012"/>
          <p:cNvGrpSpPr/>
          <p:nvPr/>
        </p:nvGrpSpPr>
        <p:grpSpPr>
          <a:xfrm>
            <a:off x="1238250" y="3476625"/>
            <a:ext cx="6667500" cy="619200"/>
            <a:chOff x="1238250" y="3476625"/>
            <a:chExt cx="6667500" cy="619200"/>
          </a:xfrm>
        </p:grpSpPr>
        <p:sp>
          <p:nvSpPr>
            <p:cNvPr id="313" name="Google Shape;313;g3dad732fe60_0_2012"/>
            <p:cNvSpPr/>
            <p:nvPr/>
          </p:nvSpPr>
          <p:spPr>
            <a:xfrm>
              <a:off x="1238250" y="3476625"/>
              <a:ext cx="6667500" cy="619200"/>
            </a:xfrm>
            <a:prstGeom prst="roundRect">
              <a:avLst>
                <a:gd fmla="val 9230" name="adj"/>
              </a:avLst>
            </a:prstGeom>
            <a:solidFill>
              <a:srgbClr val="99F6E4"/>
            </a:solidFill>
            <a:ln cap="flat" cmpd="sng" w="19050">
              <a:solidFill>
                <a:srgbClr val="00A8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g3dad732fe60_0_2012"/>
            <p:cNvSpPr txBox="1"/>
            <p:nvPr/>
          </p:nvSpPr>
          <p:spPr>
            <a:xfrm>
              <a:off x="1238250" y="3476625"/>
              <a:ext cx="6667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Version Control &amp; Sharing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GitHub Repo</a:t>
              </a:r>
              <a:endParaRPr b="0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g3dad732fe60_0_2012"/>
          <p:cNvGrpSpPr/>
          <p:nvPr/>
        </p:nvGrpSpPr>
        <p:grpSpPr>
          <a:xfrm>
            <a:off x="1238250" y="4191000"/>
            <a:ext cx="3238500" cy="619200"/>
            <a:chOff x="1238250" y="4191000"/>
            <a:chExt cx="3238500" cy="619200"/>
          </a:xfrm>
        </p:grpSpPr>
        <p:sp>
          <p:nvSpPr>
            <p:cNvPr id="316" name="Google Shape;316;g3dad732fe60_0_2012"/>
            <p:cNvSpPr/>
            <p:nvPr/>
          </p:nvSpPr>
          <p:spPr>
            <a:xfrm>
              <a:off x="1238250" y="4191000"/>
              <a:ext cx="3238500" cy="619200"/>
            </a:xfrm>
            <a:prstGeom prst="roundRect">
              <a:avLst>
                <a:gd fmla="val 9230" name="adj"/>
              </a:avLst>
            </a:prstGeom>
            <a:solidFill>
              <a:srgbClr val="FEF08A"/>
            </a:solidFill>
            <a:ln cap="flat" cmpd="sng" w="19050">
              <a:solidFill>
                <a:srgbClr val="D4A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g3dad732fe60_0_2012"/>
            <p:cNvSpPr txBox="1"/>
            <p:nvPr/>
          </p:nvSpPr>
          <p:spPr>
            <a:xfrm>
              <a:off x="1238250" y="419100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Intelligence Resources</a:t>
              </a:r>
              <a:endParaRPr sz="12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Skills, Templates, Rules, Assets</a:t>
              </a:r>
              <a:endParaRPr b="0"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g3dad732fe60_0_2012"/>
          <p:cNvGrpSpPr/>
          <p:nvPr/>
        </p:nvGrpSpPr>
        <p:grpSpPr>
          <a:xfrm>
            <a:off x="4667250" y="4191000"/>
            <a:ext cx="3238500" cy="619200"/>
            <a:chOff x="4667250" y="4191000"/>
            <a:chExt cx="3238500" cy="619200"/>
          </a:xfrm>
        </p:grpSpPr>
        <p:sp>
          <p:nvSpPr>
            <p:cNvPr id="319" name="Google Shape;319;g3dad732fe60_0_2012"/>
            <p:cNvSpPr/>
            <p:nvPr/>
          </p:nvSpPr>
          <p:spPr>
            <a:xfrm>
              <a:off x="4667250" y="4191000"/>
              <a:ext cx="3238500" cy="619200"/>
            </a:xfrm>
            <a:prstGeom prst="roundRect">
              <a:avLst>
                <a:gd fmla="val 9230" name="adj"/>
              </a:avLst>
            </a:prstGeom>
            <a:solidFill>
              <a:srgbClr val="BAE6FD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g3dad732fe60_0_2012"/>
            <p:cNvSpPr txBox="1"/>
            <p:nvPr/>
          </p:nvSpPr>
          <p:spPr>
            <a:xfrm>
              <a:off x="4667250" y="419100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Filesystem</a:t>
              </a:r>
              <a:endParaRPr sz="12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Basecamp, Google Drive</a:t>
              </a:r>
              <a:endParaRPr b="0"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ad732fe60_0_1866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A89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ad732fe60_0_1866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ad732fe60_0_1866"/>
          <p:cNvSpPr txBox="1"/>
          <p:nvPr/>
        </p:nvSpPr>
        <p:spPr>
          <a:xfrm>
            <a:off x="457200" y="2476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Initial Build Focus</a:t>
            </a:r>
            <a:endParaRPr b="1" sz="3400">
              <a:solidFill>
                <a:srgbClr val="1C1C2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7" name="Google Shape;327;g3dad732fe60_0_1866"/>
          <p:cNvSpPr txBox="1"/>
          <p:nvPr/>
        </p:nvSpPr>
        <p:spPr>
          <a:xfrm>
            <a:off x="457200" y="771525"/>
            <a:ext cx="6400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prioritizing core infrastructure for the first round of development</a:t>
            </a:r>
            <a:endParaRPr i="1" sz="13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g3dad732fe60_0_1866"/>
          <p:cNvGrpSpPr/>
          <p:nvPr/>
        </p:nvGrpSpPr>
        <p:grpSpPr>
          <a:xfrm>
            <a:off x="852488" y="1314450"/>
            <a:ext cx="6686700" cy="638100"/>
            <a:chOff x="1228725" y="1323975"/>
            <a:chExt cx="6686700" cy="638100"/>
          </a:xfrm>
        </p:grpSpPr>
        <p:pic>
          <p:nvPicPr>
            <p:cNvPr id="329" name="Google Shape;329;g3dad732fe60_0_18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8725" y="1323975"/>
              <a:ext cx="6686700" cy="6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g3dad732fe60_0_1866"/>
            <p:cNvSpPr txBox="1"/>
            <p:nvPr/>
          </p:nvSpPr>
          <p:spPr>
            <a:xfrm>
              <a:off x="1238250" y="1333500"/>
              <a:ext cx="6667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Communication Handling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Discord, Slack, Google Chat</a:t>
              </a:r>
              <a:endPara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g3dad732fe60_0_1866"/>
          <p:cNvGrpSpPr/>
          <p:nvPr/>
        </p:nvGrpSpPr>
        <p:grpSpPr>
          <a:xfrm>
            <a:off x="852488" y="2028825"/>
            <a:ext cx="6686700" cy="638100"/>
            <a:chOff x="1228725" y="2038350"/>
            <a:chExt cx="6686700" cy="638100"/>
          </a:xfrm>
        </p:grpSpPr>
        <p:pic>
          <p:nvPicPr>
            <p:cNvPr id="332" name="Google Shape;332;g3dad732fe60_0_18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8725" y="2038350"/>
              <a:ext cx="6686700" cy="6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g3dad732fe60_0_1866"/>
            <p:cNvSpPr txBox="1"/>
            <p:nvPr/>
          </p:nvSpPr>
          <p:spPr>
            <a:xfrm>
              <a:off x="1238250" y="2047875"/>
              <a:ext cx="6667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Orchestrator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Github Webhooks</a:t>
              </a:r>
              <a:endPara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g3dad732fe60_0_1866"/>
          <p:cNvGrpSpPr/>
          <p:nvPr/>
        </p:nvGrpSpPr>
        <p:grpSpPr>
          <a:xfrm>
            <a:off x="862013" y="2752725"/>
            <a:ext cx="7429500" cy="619200"/>
            <a:chOff x="1238250" y="2762250"/>
            <a:chExt cx="7429500" cy="619200"/>
          </a:xfrm>
        </p:grpSpPr>
        <p:sp>
          <p:nvSpPr>
            <p:cNvPr id="335" name="Google Shape;335;g3dad732fe60_0_1866"/>
            <p:cNvSpPr/>
            <p:nvPr/>
          </p:nvSpPr>
          <p:spPr>
            <a:xfrm>
              <a:off x="1238250" y="2762250"/>
              <a:ext cx="6667500" cy="619200"/>
            </a:xfrm>
            <a:prstGeom prst="roundRect">
              <a:avLst>
                <a:gd fmla="val 9230" name="adj"/>
              </a:avLst>
            </a:prstGeom>
            <a:solidFill>
              <a:srgbClr val="BBF7D0"/>
            </a:solidFill>
            <a:ln cap="flat" cmpd="sng" w="1905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g3dad732fe60_0_1866"/>
            <p:cNvSpPr txBox="1"/>
            <p:nvPr/>
          </p:nvSpPr>
          <p:spPr>
            <a:xfrm>
              <a:off x="1238250" y="2762250"/>
              <a:ext cx="6667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Smart Layer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Codex (AI Core)</a:t>
              </a:r>
              <a:r>
                <a:rPr b="0"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, ChatGPT, Claude, Gemini</a:t>
              </a:r>
              <a:endParaRPr b="1" sz="11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dad732fe60_0_1866"/>
            <p:cNvSpPr/>
            <p:nvPr/>
          </p:nvSpPr>
          <p:spPr>
            <a:xfrm>
              <a:off x="7524750" y="2924175"/>
              <a:ext cx="1143000" cy="2859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g3dad732fe60_0_1866"/>
            <p:cNvSpPr txBox="1"/>
            <p:nvPr/>
          </p:nvSpPr>
          <p:spPr>
            <a:xfrm>
              <a:off x="7524750" y="29241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CODEX</a:t>
              </a:r>
              <a:endParaRPr sz="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39" name="Google Shape;339;g3dad732fe60_0_1866"/>
          <p:cNvGrpSpPr/>
          <p:nvPr/>
        </p:nvGrpSpPr>
        <p:grpSpPr>
          <a:xfrm>
            <a:off x="852488" y="3457575"/>
            <a:ext cx="6686700" cy="638100"/>
            <a:chOff x="1228725" y="3467100"/>
            <a:chExt cx="6686700" cy="638100"/>
          </a:xfrm>
        </p:grpSpPr>
        <p:pic>
          <p:nvPicPr>
            <p:cNvPr id="340" name="Google Shape;340;g3dad732fe60_0_18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8725" y="3467100"/>
              <a:ext cx="6686700" cy="6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g3dad732fe60_0_1866"/>
            <p:cNvSpPr txBox="1"/>
            <p:nvPr/>
          </p:nvSpPr>
          <p:spPr>
            <a:xfrm>
              <a:off x="1238250" y="3476625"/>
              <a:ext cx="6667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Version Control &amp; Sharing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GitHub Repo</a:t>
              </a:r>
              <a:endPara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g3dad732fe60_0_1866"/>
          <p:cNvGrpSpPr/>
          <p:nvPr/>
        </p:nvGrpSpPr>
        <p:grpSpPr>
          <a:xfrm>
            <a:off x="862013" y="4181475"/>
            <a:ext cx="3238500" cy="619200"/>
            <a:chOff x="1238250" y="4191000"/>
            <a:chExt cx="3238500" cy="619200"/>
          </a:xfrm>
        </p:grpSpPr>
        <p:sp>
          <p:nvSpPr>
            <p:cNvPr id="343" name="Google Shape;343;g3dad732fe60_0_1866"/>
            <p:cNvSpPr/>
            <p:nvPr/>
          </p:nvSpPr>
          <p:spPr>
            <a:xfrm>
              <a:off x="1238250" y="4191000"/>
              <a:ext cx="3238500" cy="619200"/>
            </a:xfrm>
            <a:prstGeom prst="roundRect">
              <a:avLst>
                <a:gd fmla="val 9230" name="adj"/>
              </a:avLst>
            </a:prstGeom>
            <a:solidFill>
              <a:srgbClr val="FEF08A"/>
            </a:solidFill>
            <a:ln cap="flat" cmpd="sng" w="19050">
              <a:solidFill>
                <a:srgbClr val="D4A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g3dad732fe60_0_1866"/>
            <p:cNvSpPr txBox="1"/>
            <p:nvPr/>
          </p:nvSpPr>
          <p:spPr>
            <a:xfrm>
              <a:off x="1238250" y="419100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Intelligence Resources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1C232"/>
                  </a:solidFill>
                </a:rPr>
                <a:t>Skills</a:t>
              </a:r>
              <a:r>
                <a:rPr lang="en-US" sz="1100">
                  <a:solidFill>
                    <a:srgbClr val="444444"/>
                  </a:solidFill>
                </a:rPr>
                <a:t>, T</a:t>
              </a:r>
              <a:r>
                <a:rPr b="0"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emplates, Rules</a:t>
              </a:r>
              <a:endParaRPr b="1" sz="1100">
                <a:solidFill>
                  <a:srgbClr val="D4A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g3dad732fe60_0_1866"/>
          <p:cNvGrpSpPr/>
          <p:nvPr/>
        </p:nvGrpSpPr>
        <p:grpSpPr>
          <a:xfrm>
            <a:off x="4291013" y="4181475"/>
            <a:ext cx="4000500" cy="619200"/>
            <a:chOff x="4667250" y="4191000"/>
            <a:chExt cx="4000500" cy="619200"/>
          </a:xfrm>
        </p:grpSpPr>
        <p:sp>
          <p:nvSpPr>
            <p:cNvPr id="346" name="Google Shape;346;g3dad732fe60_0_1866"/>
            <p:cNvSpPr/>
            <p:nvPr/>
          </p:nvSpPr>
          <p:spPr>
            <a:xfrm>
              <a:off x="4667250" y="4191000"/>
              <a:ext cx="3238500" cy="619200"/>
            </a:xfrm>
            <a:prstGeom prst="roundRect">
              <a:avLst>
                <a:gd fmla="val 9230" name="adj"/>
              </a:avLst>
            </a:prstGeom>
            <a:solidFill>
              <a:srgbClr val="BAE6FD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g3dad732fe60_0_1866"/>
            <p:cNvSpPr txBox="1"/>
            <p:nvPr/>
          </p:nvSpPr>
          <p:spPr>
            <a:xfrm>
              <a:off x="4667250" y="419100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Filesystem</a:t>
              </a:r>
              <a:endParaRPr sz="14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Google Drive</a:t>
              </a:r>
              <a:r>
                <a:rPr b="0" lang="en-US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, Basecamp</a:t>
              </a:r>
              <a:endParaRPr b="1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dad732fe60_0_1866"/>
            <p:cNvSpPr/>
            <p:nvPr/>
          </p:nvSpPr>
          <p:spPr>
            <a:xfrm>
              <a:off x="7524750" y="4352925"/>
              <a:ext cx="1143000" cy="285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g3dad732fe60_0_1866"/>
            <p:cNvSpPr txBox="1"/>
            <p:nvPr/>
          </p:nvSpPr>
          <p:spPr>
            <a:xfrm>
              <a:off x="7524750" y="43529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GOOGLE DRIVE</a:t>
              </a:r>
              <a:endParaRPr sz="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50" name="Google Shape;350;g3dad732fe60_0_1866"/>
          <p:cNvSpPr/>
          <p:nvPr/>
        </p:nvSpPr>
        <p:spPr>
          <a:xfrm>
            <a:off x="-12" y="4348125"/>
            <a:ext cx="1143000" cy="285900"/>
          </a:xfrm>
          <a:prstGeom prst="roundRect">
            <a:avLst>
              <a:gd fmla="val 4999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ad732fe60_0_1866"/>
          <p:cNvSpPr txBox="1"/>
          <p:nvPr/>
        </p:nvSpPr>
        <p:spPr>
          <a:xfrm>
            <a:off x="-12" y="4348125"/>
            <a:ext cx="1143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9525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MARKDOWN FILES</a:t>
            </a:r>
            <a:endParaRPr b="0" sz="8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ad732fe60_0_1207"/>
          <p:cNvSpPr/>
          <p:nvPr/>
        </p:nvSpPr>
        <p:spPr>
          <a:xfrm>
            <a:off x="457200" y="1371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How a Request Travels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dad732fe60_0_1207"/>
          <p:cNvSpPr/>
          <p:nvPr/>
        </p:nvSpPr>
        <p:spPr>
          <a:xfrm>
            <a:off x="457200" y="658368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04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604C"/>
                </a:solidFill>
                <a:latin typeface="Calibri"/>
                <a:ea typeface="Calibri"/>
                <a:cs typeface="Calibri"/>
                <a:sym typeface="Calibri"/>
              </a:rPr>
              <a:t>from user message to action — in milliseconds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g3dad732fe60_0_1207"/>
          <p:cNvGrpSpPr/>
          <p:nvPr/>
        </p:nvGrpSpPr>
        <p:grpSpPr>
          <a:xfrm>
            <a:off x="457200" y="1220932"/>
            <a:ext cx="3429000" cy="571500"/>
            <a:chOff x="457200" y="1047750"/>
            <a:chExt cx="3429000" cy="571500"/>
          </a:xfrm>
        </p:grpSpPr>
        <p:sp>
          <p:nvSpPr>
            <p:cNvPr id="360" name="Google Shape;360;g3dad732fe60_0_1207"/>
            <p:cNvSpPr/>
            <p:nvPr/>
          </p:nvSpPr>
          <p:spPr>
            <a:xfrm>
              <a:off x="457200" y="1047750"/>
              <a:ext cx="3429000" cy="571500"/>
            </a:xfrm>
            <a:prstGeom prst="roundRect">
              <a:avLst>
                <a:gd fmla="val 10000" name="adj"/>
              </a:avLst>
            </a:prstGeom>
            <a:solidFill>
              <a:srgbClr val="FBCFE8"/>
            </a:solidFill>
            <a:ln cap="flat" cmpd="sng" w="19050">
              <a:solidFill>
                <a:srgbClr val="E860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g3dad732fe60_0_1207"/>
            <p:cNvSpPr txBox="1"/>
            <p:nvPr/>
          </p:nvSpPr>
          <p:spPr>
            <a:xfrm>
              <a:off x="457200" y="104775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highlight>
                    <a:srgbClr val="E8604C"/>
                  </a:highlight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User sends a message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62" name="Google Shape;362;g3dad732fe60_0_1207"/>
          <p:cNvGrpSpPr/>
          <p:nvPr/>
        </p:nvGrpSpPr>
        <p:grpSpPr>
          <a:xfrm>
            <a:off x="457200" y="1887682"/>
            <a:ext cx="3429000" cy="571500"/>
            <a:chOff x="457200" y="1714500"/>
            <a:chExt cx="3429000" cy="571500"/>
          </a:xfrm>
        </p:grpSpPr>
        <p:sp>
          <p:nvSpPr>
            <p:cNvPr id="363" name="Google Shape;363;g3dad732fe60_0_1207"/>
            <p:cNvSpPr/>
            <p:nvPr/>
          </p:nvSpPr>
          <p:spPr>
            <a:xfrm>
              <a:off x="457200" y="1714500"/>
              <a:ext cx="3429000" cy="571500"/>
            </a:xfrm>
            <a:prstGeom prst="roundRect">
              <a:avLst>
                <a:gd fmla="val 10000" name="adj"/>
              </a:avLst>
            </a:prstGeom>
            <a:solidFill>
              <a:srgbClr val="FED7AA"/>
            </a:solidFill>
            <a:ln cap="flat" cmpd="sng" w="1905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g3dad732fe60_0_1207"/>
            <p:cNvSpPr txBox="1"/>
            <p:nvPr/>
          </p:nvSpPr>
          <p:spPr>
            <a:xfrm>
              <a:off x="457200" y="17145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highlight>
                    <a:srgbClr val="F59E0B"/>
                  </a:highlight>
                  <a:latin typeface="Arial Black"/>
                  <a:ea typeface="Arial Black"/>
                  <a:cs typeface="Arial Black"/>
                  <a:sym typeface="Arial Black"/>
                </a:rPr>
                <a:t>2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Orchestrator reads &amp; routes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65" name="Google Shape;365;g3dad732fe60_0_1207"/>
          <p:cNvGrpSpPr/>
          <p:nvPr/>
        </p:nvGrpSpPr>
        <p:grpSpPr>
          <a:xfrm>
            <a:off x="457200" y="2554432"/>
            <a:ext cx="3429000" cy="571500"/>
            <a:chOff x="457200" y="2381250"/>
            <a:chExt cx="3429000" cy="571500"/>
          </a:xfrm>
        </p:grpSpPr>
        <p:sp>
          <p:nvSpPr>
            <p:cNvPr id="366" name="Google Shape;366;g3dad732fe60_0_1207"/>
            <p:cNvSpPr/>
            <p:nvPr/>
          </p:nvSpPr>
          <p:spPr>
            <a:xfrm>
              <a:off x="457200" y="2381250"/>
              <a:ext cx="3429000" cy="571500"/>
            </a:xfrm>
            <a:prstGeom prst="roundRect">
              <a:avLst>
                <a:gd fmla="val 10000" name="adj"/>
              </a:avLst>
            </a:prstGeom>
            <a:solidFill>
              <a:srgbClr val="FEF08A"/>
            </a:solidFill>
            <a:ln cap="flat" cmpd="sng" w="19050">
              <a:solidFill>
                <a:srgbClr val="D4A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g3dad732fe60_0_1207"/>
            <p:cNvSpPr txBox="1"/>
            <p:nvPr/>
          </p:nvSpPr>
          <p:spPr>
            <a:xfrm>
              <a:off x="457200" y="238125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highlight>
                    <a:srgbClr val="D4A000"/>
                  </a:highlight>
                  <a:latin typeface="Arial Black"/>
                  <a:ea typeface="Arial Black"/>
                  <a:cs typeface="Arial Black"/>
                  <a:sym typeface="Arial Black"/>
                </a:rPr>
                <a:t>3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Routes to right agent + skills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68" name="Google Shape;368;g3dad732fe60_0_1207"/>
          <p:cNvGrpSpPr/>
          <p:nvPr/>
        </p:nvGrpSpPr>
        <p:grpSpPr>
          <a:xfrm>
            <a:off x="457200" y="3221182"/>
            <a:ext cx="3429000" cy="571500"/>
            <a:chOff x="457200" y="3048000"/>
            <a:chExt cx="3429000" cy="571500"/>
          </a:xfrm>
        </p:grpSpPr>
        <p:sp>
          <p:nvSpPr>
            <p:cNvPr id="369" name="Google Shape;369;g3dad732fe60_0_1207"/>
            <p:cNvSpPr/>
            <p:nvPr/>
          </p:nvSpPr>
          <p:spPr>
            <a:xfrm>
              <a:off x="457200" y="3048000"/>
              <a:ext cx="3429000" cy="571500"/>
            </a:xfrm>
            <a:prstGeom prst="roundRect">
              <a:avLst>
                <a:gd fmla="val 10000" name="adj"/>
              </a:avLst>
            </a:prstGeom>
            <a:solidFill>
              <a:srgbClr val="BBF7D0"/>
            </a:solidFill>
            <a:ln cap="flat" cmpd="sng" w="1905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g3dad732fe60_0_1207"/>
            <p:cNvSpPr txBox="1"/>
            <p:nvPr/>
          </p:nvSpPr>
          <p:spPr>
            <a:xfrm>
              <a:off x="457200" y="30480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highlight>
                    <a:srgbClr val="16A34A"/>
                  </a:highlight>
                  <a:latin typeface="Arial Black"/>
                  <a:ea typeface="Arial Black"/>
                  <a:cs typeface="Arial Black"/>
                  <a:sym typeface="Arial Black"/>
                </a:rPr>
                <a:t>4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Agent takes action (search, write)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71" name="Google Shape;371;g3dad732fe60_0_1207"/>
          <p:cNvGrpSpPr/>
          <p:nvPr/>
        </p:nvGrpSpPr>
        <p:grpSpPr>
          <a:xfrm>
            <a:off x="457200" y="3887932"/>
            <a:ext cx="3429000" cy="571500"/>
            <a:chOff x="457200" y="3714750"/>
            <a:chExt cx="3429000" cy="571500"/>
          </a:xfrm>
        </p:grpSpPr>
        <p:sp>
          <p:nvSpPr>
            <p:cNvPr id="372" name="Google Shape;372;g3dad732fe60_0_1207"/>
            <p:cNvSpPr/>
            <p:nvPr/>
          </p:nvSpPr>
          <p:spPr>
            <a:xfrm>
              <a:off x="457200" y="3714750"/>
              <a:ext cx="3429000" cy="571500"/>
            </a:xfrm>
            <a:prstGeom prst="roundRect">
              <a:avLst>
                <a:gd fmla="val 10000" name="adj"/>
              </a:avLst>
            </a:prstGeom>
            <a:solidFill>
              <a:srgbClr val="99F6E4"/>
            </a:solidFill>
            <a:ln cap="flat" cmpd="sng" w="19050">
              <a:solidFill>
                <a:srgbClr val="00A8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g3dad732fe60_0_1207"/>
            <p:cNvSpPr txBox="1"/>
            <p:nvPr/>
          </p:nvSpPr>
          <p:spPr>
            <a:xfrm>
              <a:off x="457200" y="371475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highlight>
                    <a:srgbClr val="00A896"/>
                  </a:highlight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C1C2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Response returned to user</a:t>
              </a:r>
              <a:endParaRPr sz="11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74" name="Google Shape;374;g3dad732fe60_0_1207"/>
          <p:cNvGrpSpPr/>
          <p:nvPr/>
        </p:nvGrpSpPr>
        <p:grpSpPr>
          <a:xfrm>
            <a:off x="4400700" y="1754935"/>
            <a:ext cx="4286400" cy="2170443"/>
            <a:chOff x="4400550" y="1047750"/>
            <a:chExt cx="4286400" cy="3238500"/>
          </a:xfrm>
        </p:grpSpPr>
        <p:sp>
          <p:nvSpPr>
            <p:cNvPr id="375" name="Google Shape;375;g3dad732fe60_0_1207"/>
            <p:cNvSpPr/>
            <p:nvPr/>
          </p:nvSpPr>
          <p:spPr>
            <a:xfrm>
              <a:off x="4400550" y="1047750"/>
              <a:ext cx="4286400" cy="3238500"/>
            </a:xfrm>
            <a:prstGeom prst="roundRect">
              <a:avLst>
                <a:gd fmla="val 2352" name="adj"/>
              </a:avLst>
            </a:prstGeom>
            <a:solidFill>
              <a:srgbClr val="BAE6FD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g3dad732fe60_0_1207"/>
            <p:cNvSpPr txBox="1"/>
            <p:nvPr/>
          </p:nvSpPr>
          <p:spPr>
            <a:xfrm>
              <a:off x="4591050" y="1190625"/>
              <a:ext cx="390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563EB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Agent </a:t>
              </a:r>
              <a:r>
                <a:rPr b="1" lang="en-US" sz="1400">
                  <a:solidFill>
                    <a:srgbClr val="2563EB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Access Capabilities</a:t>
              </a:r>
              <a:endParaRPr b="1" sz="1400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77" name="Google Shape;377;g3dad732fe60_0_1207"/>
            <p:cNvSpPr txBox="1"/>
            <p:nvPr/>
          </p:nvSpPr>
          <p:spPr>
            <a:xfrm>
              <a:off x="4591050" y="1571625"/>
              <a:ext cx="3905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00A89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library_books</a:t>
              </a:r>
              <a:r>
                <a:rPr lang="en-US">
                  <a:solidFill>
                    <a:srgbClr val="1C1C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Skills library</a:t>
              </a:r>
              <a:endParaRPr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lang="en-US">
                  <a:solidFill>
                    <a:srgbClr val="1C1C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GitHub / Repo</a:t>
              </a:r>
              <a:endParaRPr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E8604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r>
                <a:rPr lang="en-US">
                  <a:solidFill>
                    <a:srgbClr val="1C1C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File system (Basecamp, Drive)</a:t>
              </a:r>
              <a:endParaRPr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r>
                <a:rPr lang="en-US">
                  <a:solidFill>
                    <a:srgbClr val="1C1C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Code handler</a:t>
              </a:r>
              <a:endParaRPr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computer</a:t>
              </a:r>
              <a:r>
                <a:rPr lang="en-US">
                  <a:solidFill>
                    <a:srgbClr val="1C1C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VSCode</a:t>
              </a:r>
              <a:endParaRPr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r>
                <a:rPr lang="en-US">
                  <a:solidFill>
                    <a:srgbClr val="1C1C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External Integration (MCP)</a:t>
              </a:r>
              <a:endParaRPr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ad732fe60_0_144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A896">
              <a:alpha val="12156"/>
            </a:srgbClr>
          </a:solidFill>
          <a:ln cap="flat" cmpd="sng" w="12700">
            <a:solidFill>
              <a:srgbClr val="00A896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dad732fe60_0_144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59E0B">
              <a:alpha val="12156"/>
            </a:srgbClr>
          </a:solidFill>
          <a:ln cap="flat" cmpd="sng" w="12700">
            <a:solidFill>
              <a:srgbClr val="F59E0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ad732fe60_0_1442"/>
          <p:cNvSpPr/>
          <p:nvPr/>
        </p:nvSpPr>
        <p:spPr>
          <a:xfrm>
            <a:off x="457200" y="35283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3600"/>
              <a:buFont typeface="Arial Black"/>
              <a:buNone/>
            </a:pPr>
            <a:r>
              <a:rPr b="1" lang="en-US" sz="3600">
                <a:solidFill>
                  <a:srgbClr val="1C1C2E"/>
                </a:solidFill>
                <a:latin typeface="Arial Black"/>
                <a:ea typeface="Arial Black"/>
                <a:cs typeface="Arial Black"/>
                <a:sym typeface="Arial Black"/>
              </a:rPr>
              <a:t>Potential First Steps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dad732fe60_0_1442"/>
          <p:cNvSpPr/>
          <p:nvPr/>
        </p:nvSpPr>
        <p:spPr>
          <a:xfrm>
            <a:off x="1353312" y="1299106"/>
            <a:ext cx="347400" cy="347400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dad732fe60_0_1442"/>
          <p:cNvSpPr/>
          <p:nvPr/>
        </p:nvSpPr>
        <p:spPr>
          <a:xfrm>
            <a:off x="1353312" y="1299108"/>
            <a:ext cx="34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1" sz="13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8" name="Google Shape;388;g3dad732fe60_0_1442"/>
          <p:cNvSpPr/>
          <p:nvPr/>
        </p:nvSpPr>
        <p:spPr>
          <a:xfrm>
            <a:off x="1847088" y="1225956"/>
            <a:ext cx="5943600" cy="502800"/>
          </a:xfrm>
          <a:prstGeom prst="rect">
            <a:avLst/>
          </a:prstGeom>
          <a:solidFill>
            <a:srgbClr val="FBCFE8"/>
          </a:solidFill>
          <a:ln cap="flat" cmpd="sng" w="1905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dad732fe60_0_1442"/>
          <p:cNvSpPr/>
          <p:nvPr/>
        </p:nvSpPr>
        <p:spPr>
          <a:xfrm>
            <a:off x="1920240" y="1225956"/>
            <a:ext cx="5806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rPr>
              <a:t>Start Building Skills + Resources Required to Create Consistency</a:t>
            </a:r>
            <a:endParaRPr b="0" sz="1400">
              <a:solidFill>
                <a:srgbClr val="1C1C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0" name="Google Shape;390;g3dad732fe60_0_1442"/>
          <p:cNvSpPr/>
          <p:nvPr/>
        </p:nvSpPr>
        <p:spPr>
          <a:xfrm>
            <a:off x="1353312" y="1895571"/>
            <a:ext cx="347400" cy="3474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dad732fe60_0_1442"/>
          <p:cNvSpPr/>
          <p:nvPr/>
        </p:nvSpPr>
        <p:spPr>
          <a:xfrm>
            <a:off x="1353312" y="1895563"/>
            <a:ext cx="34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1" sz="13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2" name="Google Shape;392;g3dad732fe60_0_1442"/>
          <p:cNvSpPr/>
          <p:nvPr/>
        </p:nvSpPr>
        <p:spPr>
          <a:xfrm>
            <a:off x="1847088" y="1822411"/>
            <a:ext cx="5943600" cy="502800"/>
          </a:xfrm>
          <a:prstGeom prst="rect">
            <a:avLst/>
          </a:prstGeom>
          <a:solidFill>
            <a:srgbClr val="FED7A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dad732fe60_0_1442"/>
          <p:cNvSpPr/>
          <p:nvPr/>
        </p:nvSpPr>
        <p:spPr>
          <a:xfrm>
            <a:off x="1920240" y="1822411"/>
            <a:ext cx="5806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rPr>
              <a:t>Finalize the Tools are Accurate</a:t>
            </a:r>
            <a:endParaRPr b="0" sz="1400">
              <a:solidFill>
                <a:srgbClr val="1C1C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4" name="Google Shape;394;g3dad732fe60_0_1442"/>
          <p:cNvSpPr/>
          <p:nvPr/>
        </p:nvSpPr>
        <p:spPr>
          <a:xfrm>
            <a:off x="1353312" y="2492026"/>
            <a:ext cx="347400" cy="347400"/>
          </a:xfrm>
          <a:prstGeom prst="ellipse">
            <a:avLst/>
          </a:prstGeom>
          <a:solidFill>
            <a:srgbClr val="D4A000"/>
          </a:solidFill>
          <a:ln cap="flat" cmpd="sng" w="12700">
            <a:solidFill>
              <a:srgbClr val="D4A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dad732fe60_0_1442"/>
          <p:cNvSpPr/>
          <p:nvPr/>
        </p:nvSpPr>
        <p:spPr>
          <a:xfrm>
            <a:off x="1353312" y="2492019"/>
            <a:ext cx="34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1" sz="13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6" name="Google Shape;396;g3dad732fe60_0_1442"/>
          <p:cNvSpPr/>
          <p:nvPr/>
        </p:nvSpPr>
        <p:spPr>
          <a:xfrm>
            <a:off x="1847088" y="2418867"/>
            <a:ext cx="5943600" cy="502800"/>
          </a:xfrm>
          <a:prstGeom prst="rect">
            <a:avLst/>
          </a:prstGeom>
          <a:solidFill>
            <a:srgbClr val="FEF08A"/>
          </a:solidFill>
          <a:ln cap="flat" cmpd="sng" w="19050">
            <a:solidFill>
              <a:srgbClr val="D4A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dad732fe60_0_1442"/>
          <p:cNvSpPr/>
          <p:nvPr/>
        </p:nvSpPr>
        <p:spPr>
          <a:xfrm>
            <a:off x="1920240" y="2418867"/>
            <a:ext cx="5806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rPr>
              <a:t>Plan how Agents &amp; their Skills Map Across Agents</a:t>
            </a:r>
            <a:endParaRPr b="0" sz="1400">
              <a:solidFill>
                <a:srgbClr val="1C1C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8" name="Google Shape;398;g3dad732fe60_0_1442"/>
          <p:cNvSpPr/>
          <p:nvPr/>
        </p:nvSpPr>
        <p:spPr>
          <a:xfrm>
            <a:off x="1353312" y="3088482"/>
            <a:ext cx="347400" cy="34740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dad732fe60_0_1442"/>
          <p:cNvSpPr/>
          <p:nvPr/>
        </p:nvSpPr>
        <p:spPr>
          <a:xfrm>
            <a:off x="1353312" y="3088474"/>
            <a:ext cx="34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1" sz="13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0" name="Google Shape;400;g3dad732fe60_0_1442"/>
          <p:cNvSpPr/>
          <p:nvPr/>
        </p:nvSpPr>
        <p:spPr>
          <a:xfrm>
            <a:off x="1847088" y="3015322"/>
            <a:ext cx="5943600" cy="502800"/>
          </a:xfrm>
          <a:prstGeom prst="rect">
            <a:avLst/>
          </a:prstGeom>
          <a:solidFill>
            <a:srgbClr val="BBF7D0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dad732fe60_0_1442"/>
          <p:cNvSpPr/>
          <p:nvPr/>
        </p:nvSpPr>
        <p:spPr>
          <a:xfrm>
            <a:off x="1920240" y="3015322"/>
            <a:ext cx="5806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rPr>
              <a:t>Plan Filesystem Structure</a:t>
            </a:r>
            <a:endParaRPr b="0" sz="1400">
              <a:solidFill>
                <a:srgbClr val="1C1C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2" name="Google Shape;402;g3dad732fe60_0_1442"/>
          <p:cNvSpPr/>
          <p:nvPr/>
        </p:nvSpPr>
        <p:spPr>
          <a:xfrm>
            <a:off x="1353312" y="3684937"/>
            <a:ext cx="347400" cy="3474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dad732fe60_0_1442"/>
          <p:cNvSpPr/>
          <p:nvPr/>
        </p:nvSpPr>
        <p:spPr>
          <a:xfrm>
            <a:off x="1353312" y="3684930"/>
            <a:ext cx="34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1" sz="13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4" name="Google Shape;404;g3dad732fe60_0_1442"/>
          <p:cNvSpPr/>
          <p:nvPr/>
        </p:nvSpPr>
        <p:spPr>
          <a:xfrm>
            <a:off x="1847088" y="3611778"/>
            <a:ext cx="5943600" cy="502800"/>
          </a:xfrm>
          <a:prstGeom prst="rect">
            <a:avLst/>
          </a:prstGeom>
          <a:solidFill>
            <a:srgbClr val="BAE6FD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dad732fe60_0_1442"/>
          <p:cNvSpPr/>
          <p:nvPr/>
        </p:nvSpPr>
        <p:spPr>
          <a:xfrm>
            <a:off x="1920240" y="3611778"/>
            <a:ext cx="5806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rPr>
              <a:t>Plan Framework for Automation</a:t>
            </a:r>
            <a:endParaRPr b="0" sz="1400">
              <a:solidFill>
                <a:srgbClr val="1C1C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6" name="Google Shape;406;g3dad732fe60_0_1442"/>
          <p:cNvSpPr/>
          <p:nvPr/>
        </p:nvSpPr>
        <p:spPr>
          <a:xfrm>
            <a:off x="1353312" y="4281393"/>
            <a:ext cx="347400" cy="3474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dad732fe60_0_1442"/>
          <p:cNvSpPr/>
          <p:nvPr/>
        </p:nvSpPr>
        <p:spPr>
          <a:xfrm>
            <a:off x="1353312" y="4281385"/>
            <a:ext cx="34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1" sz="13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8" name="Google Shape;408;g3dad732fe60_0_1442"/>
          <p:cNvSpPr/>
          <p:nvPr/>
        </p:nvSpPr>
        <p:spPr>
          <a:xfrm>
            <a:off x="1847088" y="4208233"/>
            <a:ext cx="5943600" cy="502800"/>
          </a:xfrm>
          <a:prstGeom prst="rect">
            <a:avLst/>
          </a:prstGeom>
          <a:solidFill>
            <a:srgbClr val="DDD6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dad732fe60_0_1442"/>
          <p:cNvSpPr/>
          <p:nvPr/>
        </p:nvSpPr>
        <p:spPr>
          <a:xfrm>
            <a:off x="1920240" y="4208233"/>
            <a:ext cx="58065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rPr>
              <a:t>Give Our Agent’s Names :) </a:t>
            </a:r>
            <a:endParaRPr b="0" sz="1400">
              <a:solidFill>
                <a:srgbClr val="1C1C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2026-04-29T15:58:34Z</dcterms:created>
  <dc:creator>PptxGenJS</dc:creator>
</cp:coreProperties>
</file>